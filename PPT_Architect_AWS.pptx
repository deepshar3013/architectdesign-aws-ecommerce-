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68" r:id="rId4"/>
    <p:sldId id="258" r:id="rId5"/>
    <p:sldId id="261" r:id="rId6"/>
    <p:sldId id="260" r:id="rId7"/>
    <p:sldId id="259" r:id="rId8"/>
    <p:sldId id="262" r:id="rId9"/>
    <p:sldId id="263"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D8ED5F-9887-4C4A-85E4-8F487976FC22}" type="datetimeFigureOut">
              <a:rPr lang="en-IN" smtClean="0"/>
              <a:t>19-08-2026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61A42-CCBA-4D8E-A979-02516920B591}" type="slidenum">
              <a:rPr lang="en-IN" smtClean="0"/>
              <a:t>‹#›</a:t>
            </a:fld>
            <a:endParaRPr lang="en-IN"/>
          </a:p>
        </p:txBody>
      </p:sp>
    </p:spTree>
    <p:extLst>
      <p:ext uri="{BB962C8B-B14F-4D97-AF65-F5344CB8AC3E}">
        <p14:creationId xmlns:p14="http://schemas.microsoft.com/office/powerpoint/2010/main" val="58444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61A42-CCBA-4D8E-A979-02516920B591}" type="slidenum">
              <a:rPr lang="en-IN" smtClean="0"/>
              <a:t>2</a:t>
            </a:fld>
            <a:endParaRPr lang="en-IN"/>
          </a:p>
        </p:txBody>
      </p:sp>
    </p:spTree>
    <p:extLst>
      <p:ext uri="{BB962C8B-B14F-4D97-AF65-F5344CB8AC3E}">
        <p14:creationId xmlns:p14="http://schemas.microsoft.com/office/powerpoint/2010/main" val="38222761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8/17/2026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8/17/2026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7BE6619-4806-DD8A-F921-CADC9CCB65D6}"/>
              </a:ext>
            </a:extLst>
          </p:cNvPr>
          <p:cNvSpPr txBox="1"/>
          <p:nvPr/>
        </p:nvSpPr>
        <p:spPr>
          <a:xfrm>
            <a:off x="193260" y="1293552"/>
            <a:ext cx="9827562"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B2B &amp; distributor portal</a:t>
            </a:r>
          </a:p>
          <a:p>
            <a:pPr marL="285750" indent="-285750">
              <a:buFont typeface="Arial" panose="020B0604020202020204" pitchFamily="34" charset="0"/>
              <a:buChar char="•"/>
            </a:pPr>
            <a:r>
              <a:rPr lang="en-US" sz="2400" dirty="0"/>
              <a:t>Unique Distribution ID for customer /distributor identification and order processing </a:t>
            </a:r>
          </a:p>
          <a:p>
            <a:pPr marL="285750" indent="-285750">
              <a:buFont typeface="Arial" panose="020B0604020202020204" pitchFamily="34" charset="0"/>
              <a:buChar char="•"/>
            </a:pPr>
            <a:r>
              <a:rPr lang="en-US" sz="2400" dirty="0"/>
              <a:t>Product Catalog (</a:t>
            </a:r>
            <a:r>
              <a:rPr lang="en-US" sz="2400" dirty="0" err="1"/>
              <a:t>salonary</a:t>
            </a:r>
            <a:r>
              <a:rPr lang="en-US" sz="2400" dirty="0"/>
              <a:t> products)</a:t>
            </a:r>
          </a:p>
          <a:p>
            <a:pPr marL="285750" indent="-285750">
              <a:buFont typeface="Arial" panose="020B0604020202020204" pitchFamily="34" charset="0"/>
              <a:buChar char="•"/>
            </a:pPr>
            <a:r>
              <a:rPr lang="en-US" sz="2400" dirty="0"/>
              <a:t>Order Management &amp; inventory Billing</a:t>
            </a:r>
          </a:p>
          <a:p>
            <a:pPr marL="285750" indent="-285750">
              <a:buFont typeface="Arial" panose="020B0604020202020204" pitchFamily="34" charset="0"/>
              <a:buChar char="•"/>
            </a:pPr>
            <a:r>
              <a:rPr lang="en-US" sz="2400" dirty="0"/>
              <a:t>Securable (AWS WAF enabled + shield (DDOS protection</a:t>
            </a:r>
            <a:r>
              <a:rPr lang="en-US" sz="2400" dirty="0">
                <a:latin typeface="Gabriola" panose="04040605051002020D02" pitchFamily="82" charset="0"/>
              </a:rPr>
              <a:t>)</a:t>
            </a:r>
          </a:p>
          <a:p>
            <a:pPr marL="285750" indent="-285750">
              <a:buFont typeface="Arial" panose="020B0604020202020204" pitchFamily="34" charset="0"/>
              <a:buChar char="•"/>
            </a:pPr>
            <a:r>
              <a:rPr lang="en-US" sz="2400" dirty="0"/>
              <a:t>High Availability and Fault tolerance–Multi Az deployment across availability Zones</a:t>
            </a:r>
          </a:p>
          <a:p>
            <a:pPr marL="285750" indent="-285750">
              <a:buFont typeface="Arial" panose="020B0604020202020204" pitchFamily="34" charset="0"/>
              <a:buChar char="•"/>
            </a:pPr>
            <a:endParaRPr lang="en-US" sz="2400" dirty="0"/>
          </a:p>
        </p:txBody>
      </p:sp>
      <p:sp>
        <p:nvSpPr>
          <p:cNvPr id="11" name="TextBox 10">
            <a:extLst>
              <a:ext uri="{FF2B5EF4-FFF2-40B4-BE49-F238E27FC236}">
                <a16:creationId xmlns:a16="http://schemas.microsoft.com/office/drawing/2014/main" id="{287E330B-1255-6870-CEC5-335EA027F9B2}"/>
              </a:ext>
            </a:extLst>
          </p:cNvPr>
          <p:cNvSpPr txBox="1"/>
          <p:nvPr/>
        </p:nvSpPr>
        <p:spPr>
          <a:xfrm>
            <a:off x="414189" y="880982"/>
            <a:ext cx="9827562" cy="461665"/>
          </a:xfrm>
          <a:prstGeom prst="rect">
            <a:avLst/>
          </a:prstGeom>
          <a:noFill/>
        </p:spPr>
        <p:txBody>
          <a:bodyPr wrap="square" rtlCol="0">
            <a:spAutoFit/>
          </a:bodyPr>
          <a:lstStyle/>
          <a:p>
            <a:r>
              <a:rPr lang="en-US" sz="2400" b="1" dirty="0"/>
              <a:t>BUSINESS CONTEXT</a:t>
            </a:r>
            <a:endParaRPr lang="en-IN" sz="2400" b="1" dirty="0"/>
          </a:p>
        </p:txBody>
      </p:sp>
    </p:spTree>
    <p:extLst>
      <p:ext uri="{BB962C8B-B14F-4D97-AF65-F5344CB8AC3E}">
        <p14:creationId xmlns:p14="http://schemas.microsoft.com/office/powerpoint/2010/main" val="234785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85BE4-82FB-2DB5-64D9-C47BCA335231}"/>
              </a:ext>
            </a:extLst>
          </p:cNvPr>
          <p:cNvSpPr>
            <a:spLocks noGrp="1"/>
          </p:cNvSpPr>
          <p:nvPr>
            <p:ph type="title"/>
          </p:nvPr>
        </p:nvSpPr>
        <p:spPr>
          <a:xfrm>
            <a:off x="913774" y="133701"/>
            <a:ext cx="10364451" cy="630387"/>
          </a:xfrm>
        </p:spPr>
        <p:txBody>
          <a:bodyPr>
            <a:normAutofit/>
          </a:bodyPr>
          <a:lstStyle/>
          <a:p>
            <a:r>
              <a:rPr lang="en-US" sz="1800" dirty="0"/>
              <a:t>E-Commerce Platform(</a:t>
            </a:r>
            <a:r>
              <a:rPr lang="en-US" sz="1800" dirty="0" err="1"/>
              <a:t>Salonary</a:t>
            </a:r>
            <a:r>
              <a:rPr lang="en-US" sz="1800" dirty="0"/>
              <a:t> Products)</a:t>
            </a:r>
            <a:br>
              <a:rPr lang="en-US" sz="1800" dirty="0"/>
            </a:br>
            <a:r>
              <a:rPr lang="en-US" sz="1800" dirty="0"/>
              <a:t>on AWS Platform</a:t>
            </a:r>
            <a:endParaRPr lang="en-IN" sz="1800" dirty="0"/>
          </a:p>
        </p:txBody>
      </p:sp>
      <p:sp>
        <p:nvSpPr>
          <p:cNvPr id="13" name="TextBox 12">
            <a:extLst>
              <a:ext uri="{FF2B5EF4-FFF2-40B4-BE49-F238E27FC236}">
                <a16:creationId xmlns:a16="http://schemas.microsoft.com/office/drawing/2014/main" id="{9A28D9D2-CE76-D895-722D-237DDCC5BAF3}"/>
              </a:ext>
            </a:extLst>
          </p:cNvPr>
          <p:cNvSpPr txBox="1"/>
          <p:nvPr/>
        </p:nvSpPr>
        <p:spPr>
          <a:xfrm>
            <a:off x="331766" y="6235102"/>
            <a:ext cx="9854499" cy="646331"/>
          </a:xfrm>
          <a:prstGeom prst="rect">
            <a:avLst/>
          </a:prstGeom>
          <a:noFill/>
        </p:spPr>
        <p:txBody>
          <a:bodyPr wrap="square">
            <a:spAutoFit/>
          </a:bodyPr>
          <a:lstStyle/>
          <a:p>
            <a:r>
              <a:rPr lang="en-US" sz="1800" b="1" dirty="0">
                <a:latin typeface="Gabriola" panose="04040605051002020D02" pitchFamily="82" charset="0"/>
              </a:rPr>
              <a:t>[due to limitation of tools not able to show case security components like  SNS, shield and WAF enabled in diagram .</a:t>
            </a:r>
            <a:r>
              <a:rPr lang="en-US" b="1" dirty="0">
                <a:latin typeface="Gabriola" panose="04040605051002020D02" pitchFamily="82" charset="0"/>
              </a:rPr>
              <a:t>In another components  are mentioned</a:t>
            </a:r>
            <a:r>
              <a:rPr lang="en-US" sz="1800" b="1" dirty="0"/>
              <a:t>)</a:t>
            </a:r>
          </a:p>
        </p:txBody>
      </p:sp>
      <p:pic>
        <p:nvPicPr>
          <p:cNvPr id="17" name="Picture 16">
            <a:extLst>
              <a:ext uri="{FF2B5EF4-FFF2-40B4-BE49-F238E27FC236}">
                <a16:creationId xmlns:a16="http://schemas.microsoft.com/office/drawing/2014/main" id="{ABD0E643-D186-8FC7-B095-C32EB3D77B56}"/>
              </a:ext>
            </a:extLst>
          </p:cNvPr>
          <p:cNvPicPr>
            <a:picLocks noChangeAspect="1"/>
          </p:cNvPicPr>
          <p:nvPr/>
        </p:nvPicPr>
        <p:blipFill>
          <a:blip r:embed="rId3"/>
          <a:stretch>
            <a:fillRect/>
          </a:stretch>
        </p:blipFill>
        <p:spPr>
          <a:xfrm>
            <a:off x="0" y="764087"/>
            <a:ext cx="11633682" cy="5471015"/>
          </a:xfrm>
          <a:prstGeom prst="rect">
            <a:avLst/>
          </a:prstGeom>
        </p:spPr>
      </p:pic>
    </p:spTree>
    <p:extLst>
      <p:ext uri="{BB962C8B-B14F-4D97-AF65-F5344CB8AC3E}">
        <p14:creationId xmlns:p14="http://schemas.microsoft.com/office/powerpoint/2010/main" val="1322155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8B3A14-A7E4-C291-B19F-3582961A515D}"/>
              </a:ext>
            </a:extLst>
          </p:cNvPr>
          <p:cNvSpPr txBox="1"/>
          <p:nvPr/>
        </p:nvSpPr>
        <p:spPr>
          <a:xfrm>
            <a:off x="1448311" y="533911"/>
            <a:ext cx="5029775" cy="461665"/>
          </a:xfrm>
          <a:prstGeom prst="rect">
            <a:avLst/>
          </a:prstGeom>
          <a:noFill/>
        </p:spPr>
        <p:txBody>
          <a:bodyPr wrap="none" rtlCol="0">
            <a:spAutoFit/>
          </a:bodyPr>
          <a:lstStyle/>
          <a:p>
            <a:r>
              <a:rPr lang="en-US" sz="2400" b="1" dirty="0"/>
              <a:t>Messaging Architecture(Closure Look)</a:t>
            </a:r>
          </a:p>
        </p:txBody>
      </p:sp>
      <p:pic>
        <p:nvPicPr>
          <p:cNvPr id="6" name="Picture 5">
            <a:extLst>
              <a:ext uri="{FF2B5EF4-FFF2-40B4-BE49-F238E27FC236}">
                <a16:creationId xmlns:a16="http://schemas.microsoft.com/office/drawing/2014/main" id="{2F8B6288-EBFA-0365-9EEF-6533DA3E6E62}"/>
              </a:ext>
            </a:extLst>
          </p:cNvPr>
          <p:cNvPicPr>
            <a:picLocks noChangeAspect="1"/>
          </p:cNvPicPr>
          <p:nvPr/>
        </p:nvPicPr>
        <p:blipFill>
          <a:blip r:embed="rId2"/>
          <a:stretch>
            <a:fillRect/>
          </a:stretch>
        </p:blipFill>
        <p:spPr>
          <a:xfrm>
            <a:off x="967284" y="1258526"/>
            <a:ext cx="10122420" cy="5359675"/>
          </a:xfrm>
          <a:prstGeom prst="rect">
            <a:avLst/>
          </a:prstGeom>
        </p:spPr>
      </p:pic>
    </p:spTree>
    <p:extLst>
      <p:ext uri="{BB962C8B-B14F-4D97-AF65-F5344CB8AC3E}">
        <p14:creationId xmlns:p14="http://schemas.microsoft.com/office/powerpoint/2010/main" val="2162479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D32C823-5916-CD73-602D-D8DEDE79A295}"/>
              </a:ext>
            </a:extLst>
          </p:cNvPr>
          <p:cNvSpPr txBox="1"/>
          <p:nvPr/>
        </p:nvSpPr>
        <p:spPr>
          <a:xfrm>
            <a:off x="742567" y="767114"/>
            <a:ext cx="10142930" cy="4339650"/>
          </a:xfrm>
          <a:prstGeom prst="rect">
            <a:avLst/>
          </a:prstGeom>
          <a:noFill/>
        </p:spPr>
        <p:txBody>
          <a:bodyPr wrap="square" rtlCol="0">
            <a:spAutoFit/>
          </a:bodyPr>
          <a:lstStyle/>
          <a:p>
            <a:r>
              <a:rPr lang="en-US" sz="2400" b="1" dirty="0"/>
              <a:t>Amazon Services:</a:t>
            </a:r>
          </a:p>
          <a:p>
            <a:r>
              <a:rPr lang="en-US" b="1" dirty="0"/>
              <a:t>S3: </a:t>
            </a:r>
            <a:r>
              <a:rPr lang="en-IN" dirty="0"/>
              <a:t>Chosen for product images, distributor documents, invoices, reports, frontend static files and data-lake objects. These are primary objects storage workload .It can be handled better rather EFS .EBS , inside EKS as a pod ( need to attach volume and managed it). It also decouples application compute storage. </a:t>
            </a:r>
          </a:p>
          <a:p>
            <a:endParaRPr lang="en-IN" dirty="0"/>
          </a:p>
          <a:p>
            <a:r>
              <a:rPr lang="en-IN" b="1" dirty="0"/>
              <a:t>Lakehouse(S3 based):</a:t>
            </a:r>
            <a:r>
              <a:rPr lang="en-IN" dirty="0"/>
              <a:t>The data is coming from multiple sources (RDS DB , application events , clickstream, logs and batch files. Instead of maintaining separate storage placeholder , we can bring the data in S3 and organize it in raw, silver and gold(business ready operations).Since we are already using S3 for our front end , product images and reports, it also keeps the overall structure consistent and simple.</a:t>
            </a:r>
          </a:p>
          <a:p>
            <a:endParaRPr lang="en-IN" dirty="0"/>
          </a:p>
          <a:p>
            <a:r>
              <a:rPr lang="en-IN" b="1" dirty="0"/>
              <a:t>AWS Glue: </a:t>
            </a:r>
            <a:r>
              <a:rPr lang="en-IN" dirty="0"/>
              <a:t>The data coming from different streams, we need to clean .transform and prepare that data before putting into our curated layers .It is serverless and no require to manage  EC2 infrastructure for the same and also integrate well with S3.</a:t>
            </a:r>
          </a:p>
          <a:p>
            <a:endParaRPr lang="en-IN" dirty="0"/>
          </a:p>
          <a:p>
            <a:endParaRPr lang="en-IN" dirty="0"/>
          </a:p>
        </p:txBody>
      </p:sp>
    </p:spTree>
    <p:extLst>
      <p:ext uri="{BB962C8B-B14F-4D97-AF65-F5344CB8AC3E}">
        <p14:creationId xmlns:p14="http://schemas.microsoft.com/office/powerpoint/2010/main" val="3145275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A1EBC9-1579-E6A4-A801-6B766B24FF72}"/>
              </a:ext>
            </a:extLst>
          </p:cNvPr>
          <p:cNvPicPr>
            <a:picLocks noChangeAspect="1"/>
          </p:cNvPicPr>
          <p:nvPr/>
        </p:nvPicPr>
        <p:blipFill>
          <a:blip r:embed="rId2"/>
          <a:stretch>
            <a:fillRect/>
          </a:stretch>
        </p:blipFill>
        <p:spPr>
          <a:xfrm>
            <a:off x="1343107" y="257750"/>
            <a:ext cx="9531502" cy="6507272"/>
          </a:xfrm>
          <a:prstGeom prst="rect">
            <a:avLst/>
          </a:prstGeom>
        </p:spPr>
      </p:pic>
      <p:sp>
        <p:nvSpPr>
          <p:cNvPr id="6" name="TextBox 5">
            <a:extLst>
              <a:ext uri="{FF2B5EF4-FFF2-40B4-BE49-F238E27FC236}">
                <a16:creationId xmlns:a16="http://schemas.microsoft.com/office/drawing/2014/main" id="{57955475-EAD2-4D9F-3A6C-38DFC0598187}"/>
              </a:ext>
            </a:extLst>
          </p:cNvPr>
          <p:cNvSpPr txBox="1"/>
          <p:nvPr/>
        </p:nvSpPr>
        <p:spPr>
          <a:xfrm>
            <a:off x="0" y="312982"/>
            <a:ext cx="3257110" cy="461665"/>
          </a:xfrm>
          <a:prstGeom prst="rect">
            <a:avLst/>
          </a:prstGeom>
          <a:noFill/>
        </p:spPr>
        <p:txBody>
          <a:bodyPr wrap="none" rtlCol="0">
            <a:spAutoFit/>
          </a:bodyPr>
          <a:lstStyle/>
          <a:p>
            <a:r>
              <a:rPr lang="en-US" sz="2400" b="1" dirty="0"/>
              <a:t>Network </a:t>
            </a:r>
            <a:r>
              <a:rPr lang="en-US" sz="2400" b="1" dirty="0" err="1"/>
              <a:t>Segementation</a:t>
            </a:r>
            <a:endParaRPr lang="en-US" sz="2400" b="1" dirty="0"/>
          </a:p>
        </p:txBody>
      </p:sp>
    </p:spTree>
    <p:extLst>
      <p:ext uri="{BB962C8B-B14F-4D97-AF65-F5344CB8AC3E}">
        <p14:creationId xmlns:p14="http://schemas.microsoft.com/office/powerpoint/2010/main" val="757479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5FF388-EEE9-167E-F512-61FE8178F71A}"/>
              </a:ext>
            </a:extLst>
          </p:cNvPr>
          <p:cNvPicPr>
            <a:picLocks noChangeAspect="1"/>
          </p:cNvPicPr>
          <p:nvPr/>
        </p:nvPicPr>
        <p:blipFill>
          <a:blip r:embed="rId2"/>
          <a:stretch>
            <a:fillRect/>
          </a:stretch>
        </p:blipFill>
        <p:spPr>
          <a:xfrm>
            <a:off x="116601" y="2047695"/>
            <a:ext cx="11380351" cy="2947752"/>
          </a:xfrm>
          <a:prstGeom prst="rect">
            <a:avLst/>
          </a:prstGeom>
        </p:spPr>
      </p:pic>
      <p:sp>
        <p:nvSpPr>
          <p:cNvPr id="6" name="TextBox 5">
            <a:extLst>
              <a:ext uri="{FF2B5EF4-FFF2-40B4-BE49-F238E27FC236}">
                <a16:creationId xmlns:a16="http://schemas.microsoft.com/office/drawing/2014/main" id="{27608684-42AB-652C-990F-3A25641F0CC2}"/>
              </a:ext>
            </a:extLst>
          </p:cNvPr>
          <p:cNvSpPr txBox="1"/>
          <p:nvPr/>
        </p:nvSpPr>
        <p:spPr>
          <a:xfrm>
            <a:off x="325256" y="380488"/>
            <a:ext cx="6907660" cy="461665"/>
          </a:xfrm>
          <a:prstGeom prst="rect">
            <a:avLst/>
          </a:prstGeom>
          <a:noFill/>
        </p:spPr>
        <p:txBody>
          <a:bodyPr wrap="none" rtlCol="0">
            <a:spAutoFit/>
          </a:bodyPr>
          <a:lstStyle/>
          <a:p>
            <a:r>
              <a:rPr lang="en-US" sz="2400" b="1" dirty="0"/>
              <a:t>Architecture Diagram-Terraform +AWS code pipeline</a:t>
            </a:r>
            <a:endParaRPr lang="en-IN" sz="2400" b="1" dirty="0"/>
          </a:p>
        </p:txBody>
      </p:sp>
    </p:spTree>
    <p:extLst>
      <p:ext uri="{BB962C8B-B14F-4D97-AF65-F5344CB8AC3E}">
        <p14:creationId xmlns:p14="http://schemas.microsoft.com/office/powerpoint/2010/main" val="1411088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A8655F-A6C1-7232-8C15-70276E233956}"/>
              </a:ext>
            </a:extLst>
          </p:cNvPr>
          <p:cNvPicPr>
            <a:picLocks noGrp="1" noChangeAspect="1"/>
          </p:cNvPicPr>
          <p:nvPr>
            <p:ph sz="quarter" idx="13"/>
          </p:nvPr>
        </p:nvPicPr>
        <p:blipFill>
          <a:blip r:embed="rId2"/>
          <a:stretch>
            <a:fillRect/>
          </a:stretch>
        </p:blipFill>
        <p:spPr>
          <a:xfrm>
            <a:off x="853032" y="486907"/>
            <a:ext cx="3172783" cy="1538274"/>
          </a:xfrm>
          <a:prstGeom prst="rect">
            <a:avLst/>
          </a:prstGeom>
        </p:spPr>
      </p:pic>
      <p:sp>
        <p:nvSpPr>
          <p:cNvPr id="7" name="TextBox 6">
            <a:extLst>
              <a:ext uri="{FF2B5EF4-FFF2-40B4-BE49-F238E27FC236}">
                <a16:creationId xmlns:a16="http://schemas.microsoft.com/office/drawing/2014/main" id="{EA035602-68C9-E33C-750C-CB6A5D990441}"/>
              </a:ext>
            </a:extLst>
          </p:cNvPr>
          <p:cNvSpPr txBox="1"/>
          <p:nvPr/>
        </p:nvSpPr>
        <p:spPr>
          <a:xfrm>
            <a:off x="4112795" y="671381"/>
            <a:ext cx="3708195" cy="369332"/>
          </a:xfrm>
          <a:prstGeom prst="rect">
            <a:avLst/>
          </a:prstGeom>
          <a:noFill/>
        </p:spPr>
        <p:txBody>
          <a:bodyPr wrap="none" rtlCol="0">
            <a:spAutoFit/>
          </a:bodyPr>
          <a:lstStyle/>
          <a:p>
            <a:pPr marL="285750" indent="-285750">
              <a:buFont typeface="Arial" panose="020B0604020202020204" pitchFamily="34" charset="0"/>
              <a:buChar char="•"/>
            </a:pPr>
            <a:r>
              <a:rPr lang="en-US" dirty="0"/>
              <a:t>Create remote Terraform state file </a:t>
            </a:r>
            <a:endParaRPr lang="en-IN" dirty="0"/>
          </a:p>
        </p:txBody>
      </p:sp>
      <p:sp>
        <p:nvSpPr>
          <p:cNvPr id="9" name="TextBox 8">
            <a:extLst>
              <a:ext uri="{FF2B5EF4-FFF2-40B4-BE49-F238E27FC236}">
                <a16:creationId xmlns:a16="http://schemas.microsoft.com/office/drawing/2014/main" id="{88FD3EEF-263E-358A-3C79-6F303B58DCB1}"/>
              </a:ext>
            </a:extLst>
          </p:cNvPr>
          <p:cNvSpPr txBox="1"/>
          <p:nvPr/>
        </p:nvSpPr>
        <p:spPr>
          <a:xfrm>
            <a:off x="276138" y="152622"/>
            <a:ext cx="2915991" cy="830997"/>
          </a:xfrm>
          <a:prstGeom prst="rect">
            <a:avLst/>
          </a:prstGeom>
          <a:noFill/>
        </p:spPr>
        <p:txBody>
          <a:bodyPr wrap="none" rtlCol="0">
            <a:spAutoFit/>
          </a:bodyPr>
          <a:lstStyle/>
          <a:p>
            <a:r>
              <a:rPr lang="en-IN" sz="2400" b="1" dirty="0"/>
              <a:t>CI/CD Flow Diagram:</a:t>
            </a:r>
          </a:p>
          <a:p>
            <a:endParaRPr lang="en-IN" sz="2400" b="1" dirty="0"/>
          </a:p>
        </p:txBody>
      </p:sp>
      <p:pic>
        <p:nvPicPr>
          <p:cNvPr id="11" name="Picture 10">
            <a:extLst>
              <a:ext uri="{FF2B5EF4-FFF2-40B4-BE49-F238E27FC236}">
                <a16:creationId xmlns:a16="http://schemas.microsoft.com/office/drawing/2014/main" id="{B1E43DA0-7E38-EB68-55B5-EDE4AE6811C9}"/>
              </a:ext>
            </a:extLst>
          </p:cNvPr>
          <p:cNvPicPr>
            <a:picLocks noChangeAspect="1"/>
          </p:cNvPicPr>
          <p:nvPr/>
        </p:nvPicPr>
        <p:blipFill>
          <a:blip r:embed="rId3"/>
          <a:stretch>
            <a:fillRect/>
          </a:stretch>
        </p:blipFill>
        <p:spPr>
          <a:xfrm>
            <a:off x="9461360" y="1022808"/>
            <a:ext cx="2579143" cy="1714588"/>
          </a:xfrm>
          <a:prstGeom prst="rect">
            <a:avLst/>
          </a:prstGeom>
        </p:spPr>
      </p:pic>
      <p:pic>
        <p:nvPicPr>
          <p:cNvPr id="13" name="Picture 12">
            <a:extLst>
              <a:ext uri="{FF2B5EF4-FFF2-40B4-BE49-F238E27FC236}">
                <a16:creationId xmlns:a16="http://schemas.microsoft.com/office/drawing/2014/main" id="{C77F167A-D928-5485-3651-81DB14A99F11}"/>
              </a:ext>
            </a:extLst>
          </p:cNvPr>
          <p:cNvPicPr>
            <a:picLocks noChangeAspect="1"/>
          </p:cNvPicPr>
          <p:nvPr/>
        </p:nvPicPr>
        <p:blipFill>
          <a:blip r:embed="rId4"/>
          <a:stretch>
            <a:fillRect/>
          </a:stretch>
        </p:blipFill>
        <p:spPr>
          <a:xfrm>
            <a:off x="186455" y="2269668"/>
            <a:ext cx="4926568" cy="1206562"/>
          </a:xfrm>
          <a:prstGeom prst="rect">
            <a:avLst/>
          </a:prstGeom>
        </p:spPr>
      </p:pic>
      <p:sp>
        <p:nvSpPr>
          <p:cNvPr id="16" name="TextBox 15">
            <a:extLst>
              <a:ext uri="{FF2B5EF4-FFF2-40B4-BE49-F238E27FC236}">
                <a16:creationId xmlns:a16="http://schemas.microsoft.com/office/drawing/2014/main" id="{8781F27A-2C6A-12D8-712A-458270477764}"/>
              </a:ext>
            </a:extLst>
          </p:cNvPr>
          <p:cNvSpPr txBox="1"/>
          <p:nvPr/>
        </p:nvSpPr>
        <p:spPr>
          <a:xfrm>
            <a:off x="5075227" y="1601098"/>
            <a:ext cx="4446795" cy="646331"/>
          </a:xfrm>
          <a:prstGeom prst="rect">
            <a:avLst/>
          </a:prstGeom>
          <a:noFill/>
        </p:spPr>
        <p:txBody>
          <a:bodyPr wrap="none" rtlCol="0">
            <a:spAutoFit/>
          </a:bodyPr>
          <a:lstStyle/>
          <a:p>
            <a:pPr marL="285750" indent="-285750">
              <a:buFont typeface="Arial" panose="020B0604020202020204" pitchFamily="34" charset="0"/>
              <a:buChar char="•"/>
            </a:pPr>
            <a:r>
              <a:rPr lang="en-US" dirty="0"/>
              <a:t>Reduce Redundancy Code-Sharing modules</a:t>
            </a:r>
          </a:p>
          <a:p>
            <a:endParaRPr lang="en-IN" dirty="0"/>
          </a:p>
        </p:txBody>
      </p:sp>
      <p:sp>
        <p:nvSpPr>
          <p:cNvPr id="17" name="TextBox 16">
            <a:extLst>
              <a:ext uri="{FF2B5EF4-FFF2-40B4-BE49-F238E27FC236}">
                <a16:creationId xmlns:a16="http://schemas.microsoft.com/office/drawing/2014/main" id="{3D177085-BE71-5E22-0519-EC86EB8339F9}"/>
              </a:ext>
            </a:extLst>
          </p:cNvPr>
          <p:cNvSpPr txBox="1"/>
          <p:nvPr/>
        </p:nvSpPr>
        <p:spPr>
          <a:xfrm>
            <a:off x="5348680" y="2737396"/>
            <a:ext cx="3877023" cy="369332"/>
          </a:xfrm>
          <a:prstGeom prst="rect">
            <a:avLst/>
          </a:prstGeom>
          <a:noFill/>
        </p:spPr>
        <p:txBody>
          <a:bodyPr wrap="none" rtlCol="0">
            <a:spAutoFit/>
          </a:bodyPr>
          <a:lstStyle/>
          <a:p>
            <a:pPr marL="285750" indent="-285750">
              <a:buFont typeface="Arial" panose="020B0604020202020204" pitchFamily="34" charset="0"/>
              <a:buChar char="•"/>
            </a:pPr>
            <a:r>
              <a:rPr lang="en-US" dirty="0"/>
              <a:t>Overview of application Deployment</a:t>
            </a:r>
            <a:endParaRPr lang="en-IN" dirty="0"/>
          </a:p>
        </p:txBody>
      </p:sp>
      <p:pic>
        <p:nvPicPr>
          <p:cNvPr id="19" name="Picture 18">
            <a:extLst>
              <a:ext uri="{FF2B5EF4-FFF2-40B4-BE49-F238E27FC236}">
                <a16:creationId xmlns:a16="http://schemas.microsoft.com/office/drawing/2014/main" id="{C695B040-8C37-F957-73AE-7DFA3967F13A}"/>
              </a:ext>
            </a:extLst>
          </p:cNvPr>
          <p:cNvPicPr>
            <a:picLocks noChangeAspect="1"/>
          </p:cNvPicPr>
          <p:nvPr/>
        </p:nvPicPr>
        <p:blipFill>
          <a:blip r:embed="rId5"/>
          <a:stretch>
            <a:fillRect/>
          </a:stretch>
        </p:blipFill>
        <p:spPr>
          <a:xfrm>
            <a:off x="222546" y="3966197"/>
            <a:ext cx="11744434" cy="2839639"/>
          </a:xfrm>
          <a:prstGeom prst="rect">
            <a:avLst/>
          </a:prstGeom>
        </p:spPr>
      </p:pic>
      <p:sp>
        <p:nvSpPr>
          <p:cNvPr id="20" name="TextBox 19">
            <a:extLst>
              <a:ext uri="{FF2B5EF4-FFF2-40B4-BE49-F238E27FC236}">
                <a16:creationId xmlns:a16="http://schemas.microsoft.com/office/drawing/2014/main" id="{8BA81BF3-FF6E-0604-29D9-6C2368767BFA}"/>
              </a:ext>
            </a:extLst>
          </p:cNvPr>
          <p:cNvSpPr txBox="1"/>
          <p:nvPr/>
        </p:nvSpPr>
        <p:spPr>
          <a:xfrm>
            <a:off x="222546" y="3612197"/>
            <a:ext cx="2632837" cy="369332"/>
          </a:xfrm>
          <a:prstGeom prst="rect">
            <a:avLst/>
          </a:prstGeom>
          <a:noFill/>
        </p:spPr>
        <p:txBody>
          <a:bodyPr wrap="none" rtlCol="0">
            <a:spAutoFit/>
          </a:bodyPr>
          <a:lstStyle/>
          <a:p>
            <a:pPr marL="285750" indent="-285750">
              <a:buFont typeface="Arial" panose="020B0604020202020204" pitchFamily="34" charset="0"/>
              <a:buChar char="•"/>
            </a:pPr>
            <a:r>
              <a:rPr lang="en-US" dirty="0"/>
              <a:t>Full deployment process</a:t>
            </a:r>
            <a:endParaRPr lang="en-IN" dirty="0"/>
          </a:p>
        </p:txBody>
      </p:sp>
    </p:spTree>
    <p:extLst>
      <p:ext uri="{BB962C8B-B14F-4D97-AF65-F5344CB8AC3E}">
        <p14:creationId xmlns:p14="http://schemas.microsoft.com/office/powerpoint/2010/main" val="3002472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327B10C-4BDE-0BC4-E60D-6EB79E5EF27A}"/>
              </a:ext>
            </a:extLst>
          </p:cNvPr>
          <p:cNvSpPr txBox="1"/>
          <p:nvPr/>
        </p:nvSpPr>
        <p:spPr>
          <a:xfrm>
            <a:off x="0" y="128876"/>
            <a:ext cx="1855893" cy="461665"/>
          </a:xfrm>
          <a:prstGeom prst="rect">
            <a:avLst/>
          </a:prstGeom>
          <a:noFill/>
        </p:spPr>
        <p:txBody>
          <a:bodyPr wrap="none" rtlCol="0">
            <a:spAutoFit/>
          </a:bodyPr>
          <a:lstStyle/>
          <a:p>
            <a:r>
              <a:rPr lang="en-US" sz="2400" b="1" dirty="0"/>
              <a:t>IAM Strategy</a:t>
            </a:r>
            <a:endParaRPr lang="en-IN" sz="2400" b="1" dirty="0"/>
          </a:p>
        </p:txBody>
      </p:sp>
      <p:pic>
        <p:nvPicPr>
          <p:cNvPr id="8" name="Picture 7">
            <a:extLst>
              <a:ext uri="{FF2B5EF4-FFF2-40B4-BE49-F238E27FC236}">
                <a16:creationId xmlns:a16="http://schemas.microsoft.com/office/drawing/2014/main" id="{6B218F2F-6B4E-6429-89D7-EE7E05943268}"/>
              </a:ext>
            </a:extLst>
          </p:cNvPr>
          <p:cNvPicPr>
            <a:picLocks noChangeAspect="1"/>
          </p:cNvPicPr>
          <p:nvPr/>
        </p:nvPicPr>
        <p:blipFill>
          <a:blip r:embed="rId2"/>
          <a:stretch>
            <a:fillRect/>
          </a:stretch>
        </p:blipFill>
        <p:spPr>
          <a:xfrm>
            <a:off x="1734552" y="128876"/>
            <a:ext cx="8722895" cy="6858000"/>
          </a:xfrm>
          <a:prstGeom prst="rect">
            <a:avLst/>
          </a:prstGeom>
        </p:spPr>
      </p:pic>
    </p:spTree>
    <p:extLst>
      <p:ext uri="{BB962C8B-B14F-4D97-AF65-F5344CB8AC3E}">
        <p14:creationId xmlns:p14="http://schemas.microsoft.com/office/powerpoint/2010/main" val="2430271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4CEC23-B200-8BC3-F5CA-0C8DC6F4153D}"/>
              </a:ext>
            </a:extLst>
          </p:cNvPr>
          <p:cNvSpPr txBox="1"/>
          <p:nvPr/>
        </p:nvSpPr>
        <p:spPr>
          <a:xfrm>
            <a:off x="37067" y="92261"/>
            <a:ext cx="5953361" cy="461665"/>
          </a:xfrm>
          <a:prstGeom prst="rect">
            <a:avLst/>
          </a:prstGeom>
          <a:noFill/>
        </p:spPr>
        <p:txBody>
          <a:bodyPr wrap="none" rtlCol="0">
            <a:spAutoFit/>
          </a:bodyPr>
          <a:lstStyle/>
          <a:p>
            <a:r>
              <a:rPr lang="en-IN" sz="2400" b="1" dirty="0"/>
              <a:t>Multi-Level Cloud Cost Optimization Strategy</a:t>
            </a:r>
          </a:p>
        </p:txBody>
      </p:sp>
      <p:sp>
        <p:nvSpPr>
          <p:cNvPr id="11" name="TextBox 10">
            <a:extLst>
              <a:ext uri="{FF2B5EF4-FFF2-40B4-BE49-F238E27FC236}">
                <a16:creationId xmlns:a16="http://schemas.microsoft.com/office/drawing/2014/main" id="{04F9721C-37E5-5A41-A60C-9F0B95BFF9B1}"/>
              </a:ext>
            </a:extLst>
          </p:cNvPr>
          <p:cNvSpPr txBox="1"/>
          <p:nvPr/>
        </p:nvSpPr>
        <p:spPr>
          <a:xfrm>
            <a:off x="227310" y="945642"/>
            <a:ext cx="11512604" cy="4247317"/>
          </a:xfrm>
          <a:prstGeom prst="rect">
            <a:avLst/>
          </a:prstGeom>
          <a:noFill/>
        </p:spPr>
        <p:txBody>
          <a:bodyPr wrap="square" rtlCol="0">
            <a:spAutoFit/>
          </a:bodyPr>
          <a:lstStyle/>
          <a:p>
            <a:r>
              <a:rPr lang="en-IN" dirty="0"/>
              <a:t>Cost optimization is not limited to infrastructure. In this architecture, I would approach cost optimization at multiple levels:</a:t>
            </a:r>
          </a:p>
          <a:p>
            <a:endParaRPr lang="en-IN" dirty="0"/>
          </a:p>
          <a:p>
            <a:pPr marL="285750" indent="-285750">
              <a:buFont typeface="Arial" panose="020B0604020202020204" pitchFamily="34" charset="0"/>
              <a:buChar char="•"/>
            </a:pPr>
            <a:r>
              <a:rPr lang="en-IN" dirty="0"/>
              <a:t>Application-level</a:t>
            </a:r>
          </a:p>
          <a:p>
            <a:r>
              <a:rPr lang="en-IN" dirty="0"/>
              <a:t>      </a:t>
            </a:r>
          </a:p>
          <a:p>
            <a:pPr marL="285750" indent="-285750">
              <a:buFont typeface="Arial" panose="020B0604020202020204" pitchFamily="34" charset="0"/>
              <a:buChar char="•"/>
            </a:pPr>
            <a:r>
              <a:rPr lang="en-IN" dirty="0"/>
              <a:t>Compute-level</a:t>
            </a:r>
          </a:p>
          <a:p>
            <a:endParaRPr lang="en-IN" dirty="0"/>
          </a:p>
          <a:p>
            <a:pPr marL="285750" indent="-285750">
              <a:buFont typeface="Arial" panose="020B0604020202020204" pitchFamily="34" charset="0"/>
              <a:buChar char="•"/>
            </a:pPr>
            <a:r>
              <a:rPr lang="en-IN" dirty="0"/>
              <a:t>Database-level</a:t>
            </a:r>
          </a:p>
          <a:p>
            <a:endParaRPr lang="en-IN" dirty="0"/>
          </a:p>
          <a:p>
            <a:pPr marL="285750" indent="-285750">
              <a:buFont typeface="Arial" panose="020B0604020202020204" pitchFamily="34" charset="0"/>
              <a:buChar char="•"/>
            </a:pPr>
            <a:r>
              <a:rPr lang="en-IN" dirty="0"/>
              <a:t>Data/storage-level</a:t>
            </a:r>
          </a:p>
          <a:p>
            <a:endParaRPr lang="en-IN" dirty="0"/>
          </a:p>
          <a:p>
            <a:pPr marL="285750" indent="-285750">
              <a:buFont typeface="Arial" panose="020B0604020202020204" pitchFamily="34" charset="0"/>
              <a:buChar char="•"/>
            </a:pPr>
            <a:r>
              <a:rPr lang="en-IN" dirty="0"/>
              <a:t>Network-level</a:t>
            </a:r>
          </a:p>
          <a:p>
            <a:endParaRPr lang="en-IN" dirty="0"/>
          </a:p>
          <a:p>
            <a:pPr marL="285750" indent="-285750">
              <a:buFont typeface="Arial" panose="020B0604020202020204" pitchFamily="34" charset="0"/>
              <a:buChar char="•"/>
            </a:pPr>
            <a:r>
              <a:rPr lang="en-IN" dirty="0"/>
              <a:t>Observability-level</a:t>
            </a:r>
          </a:p>
          <a:p>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5317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971D1D-2C21-5E15-2DD8-DD5BA651E5C8}"/>
              </a:ext>
            </a:extLst>
          </p:cNvPr>
          <p:cNvPicPr>
            <a:picLocks noChangeAspect="1"/>
          </p:cNvPicPr>
          <p:nvPr/>
        </p:nvPicPr>
        <p:blipFill>
          <a:blip r:embed="rId2"/>
          <a:stretch>
            <a:fillRect/>
          </a:stretch>
        </p:blipFill>
        <p:spPr>
          <a:xfrm>
            <a:off x="3458926" y="0"/>
            <a:ext cx="5879165" cy="6858000"/>
          </a:xfrm>
          <a:prstGeom prst="rect">
            <a:avLst/>
          </a:prstGeom>
        </p:spPr>
      </p:pic>
      <p:sp>
        <p:nvSpPr>
          <p:cNvPr id="6" name="TextBox 5">
            <a:extLst>
              <a:ext uri="{FF2B5EF4-FFF2-40B4-BE49-F238E27FC236}">
                <a16:creationId xmlns:a16="http://schemas.microsoft.com/office/drawing/2014/main" id="{B60BB5D3-13B7-BC2D-1012-9E86592F0FD2}"/>
              </a:ext>
            </a:extLst>
          </p:cNvPr>
          <p:cNvSpPr txBox="1"/>
          <p:nvPr/>
        </p:nvSpPr>
        <p:spPr>
          <a:xfrm>
            <a:off x="49096" y="227066"/>
            <a:ext cx="3409830" cy="830997"/>
          </a:xfrm>
          <a:prstGeom prst="rect">
            <a:avLst/>
          </a:prstGeom>
          <a:noFill/>
        </p:spPr>
        <p:txBody>
          <a:bodyPr wrap="square" rtlCol="0">
            <a:spAutoFit/>
          </a:bodyPr>
          <a:lstStyle/>
          <a:p>
            <a:r>
              <a:rPr lang="en-IN" sz="2400" b="1" dirty="0"/>
              <a:t>Multi-Level Cloud Cost Optimization Structure</a:t>
            </a:r>
          </a:p>
        </p:txBody>
      </p:sp>
    </p:spTree>
    <p:extLst>
      <p:ext uri="{BB962C8B-B14F-4D97-AF65-F5344CB8AC3E}">
        <p14:creationId xmlns:p14="http://schemas.microsoft.com/office/powerpoint/2010/main" val="402235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F7710A-9FF6-9E4E-7C63-2AC54126C04B}"/>
              </a:ext>
            </a:extLst>
          </p:cNvPr>
          <p:cNvSpPr txBox="1"/>
          <p:nvPr/>
        </p:nvSpPr>
        <p:spPr>
          <a:xfrm>
            <a:off x="286963" y="986094"/>
            <a:ext cx="9550508" cy="461665"/>
          </a:xfrm>
          <a:prstGeom prst="rect">
            <a:avLst/>
          </a:prstGeom>
          <a:noFill/>
        </p:spPr>
        <p:txBody>
          <a:bodyPr wrap="square" rtlCol="0">
            <a:spAutoFit/>
          </a:bodyPr>
          <a:lstStyle/>
          <a:p>
            <a:r>
              <a:rPr lang="en-US" sz="2400" b="1" dirty="0"/>
              <a:t>AWS Governance</a:t>
            </a:r>
          </a:p>
        </p:txBody>
      </p:sp>
      <p:pic>
        <p:nvPicPr>
          <p:cNvPr id="7" name="Picture 6">
            <a:extLst>
              <a:ext uri="{FF2B5EF4-FFF2-40B4-BE49-F238E27FC236}">
                <a16:creationId xmlns:a16="http://schemas.microsoft.com/office/drawing/2014/main" id="{35C61BA8-0029-AFB9-8A87-3CB0AAE800AC}"/>
              </a:ext>
            </a:extLst>
          </p:cNvPr>
          <p:cNvPicPr>
            <a:picLocks noChangeAspect="1"/>
          </p:cNvPicPr>
          <p:nvPr/>
        </p:nvPicPr>
        <p:blipFill>
          <a:blip r:embed="rId2"/>
          <a:stretch>
            <a:fillRect/>
          </a:stretch>
        </p:blipFill>
        <p:spPr>
          <a:xfrm>
            <a:off x="352130" y="2292291"/>
            <a:ext cx="11487740" cy="2273417"/>
          </a:xfrm>
          <a:prstGeom prst="rect">
            <a:avLst/>
          </a:prstGeom>
        </p:spPr>
      </p:pic>
    </p:spTree>
    <p:extLst>
      <p:ext uri="{BB962C8B-B14F-4D97-AF65-F5344CB8AC3E}">
        <p14:creationId xmlns:p14="http://schemas.microsoft.com/office/powerpoint/2010/main" val="611359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CF3584-0716-C0E4-86DE-BDC2BEF4A8EE}"/>
              </a:ext>
            </a:extLst>
          </p:cNvPr>
          <p:cNvSpPr txBox="1"/>
          <p:nvPr/>
        </p:nvSpPr>
        <p:spPr>
          <a:xfrm>
            <a:off x="1724472" y="558459"/>
            <a:ext cx="4460388" cy="461665"/>
          </a:xfrm>
          <a:prstGeom prst="rect">
            <a:avLst/>
          </a:prstGeom>
          <a:noFill/>
        </p:spPr>
        <p:txBody>
          <a:bodyPr wrap="none" rtlCol="0">
            <a:spAutoFit/>
          </a:bodyPr>
          <a:lstStyle/>
          <a:p>
            <a:r>
              <a:rPr lang="en-US" sz="2400" b="1" dirty="0"/>
              <a:t>Potential Bottlenecks &amp; Mitigation</a:t>
            </a:r>
          </a:p>
        </p:txBody>
      </p:sp>
      <p:pic>
        <p:nvPicPr>
          <p:cNvPr id="8" name="Picture 7">
            <a:extLst>
              <a:ext uri="{FF2B5EF4-FFF2-40B4-BE49-F238E27FC236}">
                <a16:creationId xmlns:a16="http://schemas.microsoft.com/office/drawing/2014/main" id="{A5E1E034-5E82-FDF1-0071-031730567AF7}"/>
              </a:ext>
            </a:extLst>
          </p:cNvPr>
          <p:cNvPicPr>
            <a:picLocks noChangeAspect="1"/>
          </p:cNvPicPr>
          <p:nvPr/>
        </p:nvPicPr>
        <p:blipFill>
          <a:blip r:embed="rId2"/>
          <a:stretch>
            <a:fillRect/>
          </a:stretch>
        </p:blipFill>
        <p:spPr>
          <a:xfrm>
            <a:off x="1251930" y="1170270"/>
            <a:ext cx="8752696" cy="4081273"/>
          </a:xfrm>
          <a:prstGeom prst="rect">
            <a:avLst/>
          </a:prstGeom>
        </p:spPr>
      </p:pic>
    </p:spTree>
    <p:extLst>
      <p:ext uri="{BB962C8B-B14F-4D97-AF65-F5344CB8AC3E}">
        <p14:creationId xmlns:p14="http://schemas.microsoft.com/office/powerpoint/2010/main" val="347494083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{23F0471F-8D64-4105-84F5-8B01DA18214D}TF62d0d592-7ac2-4846-a919-75806e8bead47c13978d-7a72a11451b2</Template>
  <TotalTime>5065</TotalTime>
  <Words>364</Words>
  <Application>Microsoft Office PowerPoint</Application>
  <PresentationFormat>Widescreen</PresentationFormat>
  <Paragraphs>42</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Gabriola</vt:lpstr>
      <vt:lpstr>Tw Cen MT</vt:lpstr>
      <vt:lpstr>Droplet</vt:lpstr>
      <vt:lpstr>PowerPoint Presentation</vt:lpstr>
      <vt:lpstr>E-Commerce Platform(Salonary Products) on AWS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sharma</dc:creator>
  <cp:lastModifiedBy>deepak sharma</cp:lastModifiedBy>
  <cp:revision>4</cp:revision>
  <dcterms:created xsi:type="dcterms:W3CDTF">2026-08-16T23:37:30Z</dcterms:created>
  <dcterms:modified xsi:type="dcterms:W3CDTF">2026-08-20T12:03:27Z</dcterms:modified>
</cp:coreProperties>
</file>